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66" r:id="rId4"/>
    <p:sldId id="257" r:id="rId5"/>
    <p:sldId id="267" r:id="rId6"/>
    <p:sldId id="263" r:id="rId7"/>
    <p:sldId id="258" r:id="rId8"/>
    <p:sldId id="262" r:id="rId9"/>
    <p:sldId id="261" r:id="rId10"/>
    <p:sldId id="259" r:id="rId11"/>
    <p:sldId id="260" r:id="rId12"/>
    <p:sldId id="270" r:id="rId13"/>
    <p:sldId id="271" r:id="rId14"/>
    <p:sldId id="273" r:id="rId15"/>
    <p:sldId id="274" r:id="rId16"/>
    <p:sldId id="269" r:id="rId17"/>
    <p:sldId id="26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274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Nelson" userId="e6ea8f6228262e57" providerId="LiveId" clId="{B3F7249E-D327-48E8-B577-87144CBF49BF}"/>
    <pc:docChg chg="custSel addSld modSld">
      <pc:chgData name="Chad Nelson" userId="e6ea8f6228262e57" providerId="LiveId" clId="{B3F7249E-D327-48E8-B577-87144CBF49BF}" dt="2026-08-04T19:49:48.984" v="193" actId="14100"/>
      <pc:docMkLst>
        <pc:docMk/>
      </pc:docMkLst>
      <pc:sldChg chg="addSp delSp modSp add mod">
        <pc:chgData name="Chad Nelson" userId="e6ea8f6228262e57" providerId="LiveId" clId="{B3F7249E-D327-48E8-B577-87144CBF49BF}" dt="2026-08-04T19:49:48.984" v="193" actId="14100"/>
        <pc:sldMkLst>
          <pc:docMk/>
          <pc:sldMk cId="2846368895" sldId="268"/>
        </pc:sldMkLst>
        <pc:spChg chg="del mod">
          <ac:chgData name="Chad Nelson" userId="e6ea8f6228262e57" providerId="LiveId" clId="{B3F7249E-D327-48E8-B577-87144CBF49BF}" dt="2026-08-04T19:47:11.077" v="6" actId="478"/>
          <ac:spMkLst>
            <pc:docMk/>
            <pc:sldMk cId="2846368895" sldId="268"/>
            <ac:spMk id="4" creationId="{254A11D5-2853-B978-5DBF-346712C6EC3F}"/>
          </ac:spMkLst>
        </pc:spChg>
        <pc:spChg chg="mod">
          <ac:chgData name="Chad Nelson" userId="e6ea8f6228262e57" providerId="LiveId" clId="{B3F7249E-D327-48E8-B577-87144CBF49BF}" dt="2026-08-04T19:47:16.736" v="8" actId="1076"/>
          <ac:spMkLst>
            <pc:docMk/>
            <pc:sldMk cId="2846368895" sldId="268"/>
            <ac:spMk id="24" creationId="{8C2DB8A6-C2D8-7E28-D58B-7B04887E6F70}"/>
          </ac:spMkLst>
        </pc:spChg>
        <pc:spChg chg="mod">
          <ac:chgData name="Chad Nelson" userId="e6ea8f6228262e57" providerId="LiveId" clId="{B3F7249E-D327-48E8-B577-87144CBF49BF}" dt="2026-08-04T19:47:20.241" v="9" actId="1076"/>
          <ac:spMkLst>
            <pc:docMk/>
            <pc:sldMk cId="2846368895" sldId="268"/>
            <ac:spMk id="25" creationId="{AFE79EDC-A183-2336-2D09-B6C749E956E1}"/>
          </ac:spMkLst>
        </pc:spChg>
        <pc:spChg chg="del">
          <ac:chgData name="Chad Nelson" userId="e6ea8f6228262e57" providerId="LiveId" clId="{B3F7249E-D327-48E8-B577-87144CBF49BF}" dt="2026-08-04T19:47:07.076" v="4" actId="478"/>
          <ac:spMkLst>
            <pc:docMk/>
            <pc:sldMk cId="2846368895" sldId="268"/>
            <ac:spMk id="26" creationId="{0AEA5DB1-7287-24CB-DD13-28110A7776D3}"/>
          </ac:spMkLst>
        </pc:spChg>
        <pc:spChg chg="del">
          <ac:chgData name="Chad Nelson" userId="e6ea8f6228262e57" providerId="LiveId" clId="{B3F7249E-D327-48E8-B577-87144CBF49BF}" dt="2026-08-04T19:47:21.403" v="10" actId="478"/>
          <ac:spMkLst>
            <pc:docMk/>
            <pc:sldMk cId="2846368895" sldId="268"/>
            <ac:spMk id="27" creationId="{65780AED-7B1F-CF73-F885-9E54634B9EE0}"/>
          </ac:spMkLst>
        </pc:spChg>
        <pc:spChg chg="del">
          <ac:chgData name="Chad Nelson" userId="e6ea8f6228262e57" providerId="LiveId" clId="{B3F7249E-D327-48E8-B577-87144CBF49BF}" dt="2026-08-04T19:47:04.786" v="3" actId="478"/>
          <ac:spMkLst>
            <pc:docMk/>
            <pc:sldMk cId="2846368895" sldId="268"/>
            <ac:spMk id="28" creationId="{C57ABF7D-CE27-89B9-A538-66F8F4FEEBA5}"/>
          </ac:spMkLst>
        </pc:spChg>
        <pc:spChg chg="add del mod">
          <ac:chgData name="Chad Nelson" userId="e6ea8f6228262e57" providerId="LiveId" clId="{B3F7249E-D327-48E8-B577-87144CBF49BF}" dt="2026-08-04T19:47:41.675" v="13" actId="478"/>
          <ac:spMkLst>
            <pc:docMk/>
            <pc:sldMk cId="2846368895" sldId="268"/>
            <ac:spMk id="31" creationId="{E4E80220-635C-F42A-6171-EE06A138F1D6}"/>
          </ac:spMkLst>
        </pc:spChg>
        <pc:spChg chg="add del mod">
          <ac:chgData name="Chad Nelson" userId="e6ea8f6228262e57" providerId="LiveId" clId="{B3F7249E-D327-48E8-B577-87144CBF49BF}" dt="2026-08-04T19:47:46.747" v="15" actId="478"/>
          <ac:spMkLst>
            <pc:docMk/>
            <pc:sldMk cId="2846368895" sldId="268"/>
            <ac:spMk id="33" creationId="{7FF66F34-C592-FD09-BC68-1F69F01E2C6A}"/>
          </ac:spMkLst>
        </pc:spChg>
        <pc:spChg chg="del mod">
          <ac:chgData name="Chad Nelson" userId="e6ea8f6228262e57" providerId="LiveId" clId="{B3F7249E-D327-48E8-B577-87144CBF49BF}" dt="2026-08-04T19:47:01.935" v="2" actId="478"/>
          <ac:spMkLst>
            <pc:docMk/>
            <pc:sldMk cId="2846368895" sldId="268"/>
            <ac:spMk id="34" creationId="{AB02681B-71A0-9C17-DCC7-16B15E7B25F4}"/>
          </ac:spMkLst>
        </pc:spChg>
        <pc:spChg chg="add del mod">
          <ac:chgData name="Chad Nelson" userId="e6ea8f6228262e57" providerId="LiveId" clId="{B3F7249E-D327-48E8-B577-87144CBF49BF}" dt="2026-08-04T19:49:32.826" v="189" actId="478"/>
          <ac:spMkLst>
            <pc:docMk/>
            <pc:sldMk cId="2846368895" sldId="268"/>
            <ac:spMk id="36" creationId="{764911B0-31C7-2C04-D3FD-8265CB4368B1}"/>
          </ac:spMkLst>
        </pc:spChg>
        <pc:spChg chg="add mod">
          <ac:chgData name="Chad Nelson" userId="e6ea8f6228262e57" providerId="LiveId" clId="{B3F7249E-D327-48E8-B577-87144CBF49BF}" dt="2026-08-04T19:49:48.984" v="193" actId="14100"/>
          <ac:spMkLst>
            <pc:docMk/>
            <pc:sldMk cId="2846368895" sldId="268"/>
            <ac:spMk id="38" creationId="{018F50D5-F1D0-B038-9D3E-790C39B5A1CF}"/>
          </ac:spMkLst>
        </pc:spChg>
        <pc:spChg chg="add mod">
          <ac:chgData name="Chad Nelson" userId="e6ea8f6228262e57" providerId="LiveId" clId="{B3F7249E-D327-48E8-B577-87144CBF49BF}" dt="2026-08-04T19:48:20.625" v="30" actId="20577"/>
          <ac:spMkLst>
            <pc:docMk/>
            <pc:sldMk cId="2846368895" sldId="268"/>
            <ac:spMk id="40" creationId="{5A86D7ED-3176-B713-A8AA-2E6AACD89BF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els2\source\repos\Congress\Count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Running Total # of 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Running Total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Sheet1!$F$2:$F$59</c:f>
              <c:numCache>
                <c:formatCode>General</c:formatCode>
                <c:ptCount val="58"/>
                <c:pt idx="0">
                  <c:v>-2.5399999999999999E-2</c:v>
                </c:pt>
                <c:pt idx="1">
                  <c:v>-70.850000000000009</c:v>
                </c:pt>
                <c:pt idx="2">
                  <c:v>-188.10150000000002</c:v>
                </c:pt>
                <c:pt idx="3">
                  <c:v>-235.03650000000002</c:v>
                </c:pt>
                <c:pt idx="4">
                  <c:v>-254.99140000000003</c:v>
                </c:pt>
                <c:pt idx="5">
                  <c:v>-271.88740000000001</c:v>
                </c:pt>
                <c:pt idx="6">
                  <c:v>-277.30420000000004</c:v>
                </c:pt>
                <c:pt idx="7">
                  <c:v>-285.02980000000002</c:v>
                </c:pt>
                <c:pt idx="8">
                  <c:v>-288.33100000000002</c:v>
                </c:pt>
                <c:pt idx="9">
                  <c:v>-286.75420000000003</c:v>
                </c:pt>
                <c:pt idx="10">
                  <c:v>-286.54490000000004</c:v>
                </c:pt>
                <c:pt idx="11">
                  <c:v>-268.38170000000002</c:v>
                </c:pt>
                <c:pt idx="12">
                  <c:v>-254.27080000000004</c:v>
                </c:pt>
                <c:pt idx="13">
                  <c:v>-245.87500000000003</c:v>
                </c:pt>
                <c:pt idx="14">
                  <c:v>-207.31700000000004</c:v>
                </c:pt>
                <c:pt idx="15">
                  <c:v>-190.22300000000004</c:v>
                </c:pt>
                <c:pt idx="16">
                  <c:v>-166.46300000000005</c:v>
                </c:pt>
                <c:pt idx="17">
                  <c:v>-136.12290000000004</c:v>
                </c:pt>
                <c:pt idx="18">
                  <c:v>-118.11610000000005</c:v>
                </c:pt>
                <c:pt idx="19">
                  <c:v>-104.93230000000004</c:v>
                </c:pt>
                <c:pt idx="20">
                  <c:v>-93.865300000000047</c:v>
                </c:pt>
                <c:pt idx="21">
                  <c:v>-81.829200000000043</c:v>
                </c:pt>
                <c:pt idx="22">
                  <c:v>-67.199200000000047</c:v>
                </c:pt>
                <c:pt idx="23">
                  <c:v>-58.027300000000047</c:v>
                </c:pt>
                <c:pt idx="24">
                  <c:v>-50.054500000000047</c:v>
                </c:pt>
                <c:pt idx="25">
                  <c:v>-42.654500000000048</c:v>
                </c:pt>
                <c:pt idx="26">
                  <c:v>-38.523100000000049</c:v>
                </c:pt>
                <c:pt idx="27">
                  <c:v>-34.53790000000005</c:v>
                </c:pt>
                <c:pt idx="28">
                  <c:v>-31.381900000000051</c:v>
                </c:pt>
                <c:pt idx="29">
                  <c:v>-27.529900000000051</c:v>
                </c:pt>
                <c:pt idx="30">
                  <c:v>-27.05180000000005</c:v>
                </c:pt>
                <c:pt idx="31">
                  <c:v>-26.77120000000005</c:v>
                </c:pt>
                <c:pt idx="32">
                  <c:v>-26.483400000000049</c:v>
                </c:pt>
                <c:pt idx="33">
                  <c:v>-25.859400000000051</c:v>
                </c:pt>
                <c:pt idx="34">
                  <c:v>-24.887700000000052</c:v>
                </c:pt>
                <c:pt idx="35">
                  <c:v>-24.314100000000053</c:v>
                </c:pt>
                <c:pt idx="36">
                  <c:v>-23.739900000000052</c:v>
                </c:pt>
                <c:pt idx="37">
                  <c:v>-23.452600000000054</c:v>
                </c:pt>
                <c:pt idx="38">
                  <c:v>-23.041100000000053</c:v>
                </c:pt>
                <c:pt idx="39">
                  <c:v>-22.139900000000054</c:v>
                </c:pt>
                <c:pt idx="40">
                  <c:v>-21.747200000000053</c:v>
                </c:pt>
                <c:pt idx="41">
                  <c:v>-21.441900000000054</c:v>
                </c:pt>
                <c:pt idx="42">
                  <c:v>-21.153800000000054</c:v>
                </c:pt>
                <c:pt idx="43">
                  <c:v>-20.227100000000053</c:v>
                </c:pt>
                <c:pt idx="44">
                  <c:v>-19.902400000000053</c:v>
                </c:pt>
                <c:pt idx="45">
                  <c:v>-19.511600000000055</c:v>
                </c:pt>
                <c:pt idx="46">
                  <c:v>-19.216400000000053</c:v>
                </c:pt>
                <c:pt idx="47">
                  <c:v>-18.924700000000055</c:v>
                </c:pt>
                <c:pt idx="48">
                  <c:v>-18.622600000000055</c:v>
                </c:pt>
                <c:pt idx="49">
                  <c:v>-18.041800000000055</c:v>
                </c:pt>
                <c:pt idx="50">
                  <c:v>-17.751900000000056</c:v>
                </c:pt>
                <c:pt idx="51">
                  <c:v>-17.467200000000055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B7B-44FA-80DD-2A73DF694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8867279"/>
        <c:axId val="650025775"/>
      </c:scatterChart>
      <c:valAx>
        <c:axId val="7488672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0025775"/>
        <c:crosses val="autoZero"/>
        <c:crossBetween val="midCat"/>
      </c:valAx>
      <c:valAx>
        <c:axId val="650025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88672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566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7562-9245-2CA0-5BD9-8483A40E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8962F-DEDF-337D-2809-B4E5FA264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072D2-C044-7D47-034B-F5A5D1980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15268-F6CD-5109-D7BA-C6A6AFA72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73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B879-84CE-EF77-A540-F0A7387C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02BCD-0674-81D9-B585-5E073EF27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AA96D-D7FA-B4CE-66ED-2CA2AE82C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E2024-CA4A-5349-80ED-99959874B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08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322B-8570-83DF-DAE3-BF52C92C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C8FB6-092C-75BD-4183-1B8CCE427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89E15-EA03-A96B-DC85-2E62D9594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1406B-2B9B-703B-56A6-94EC7E568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04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0D56-56EA-0D21-8C40-690B77FE7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EBAD7-5A1F-78ED-A167-0E3FD7914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1901B-14F1-2CB8-C591-388EB4B8C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64C9B-834E-1811-A6D4-FC736B6C3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22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E150-9F14-C1E5-B22F-0829AB55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8EF75-9897-8B2D-4835-65011814A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1CBF8-6A63-4022-ADD3-F260B66A5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DE3C9-371F-F26A-44A9-7566AB337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63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3B60-56E5-870B-E4C3-36335125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0215A-D15B-195A-5EC2-970C5DF7D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5CE5C-FAF6-41CD-D5EE-4C9844CF0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74FE9-CD2F-323F-0B4D-7DD89A5C4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62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ls2248/Congress" TargetMode="External"/><Relationship Id="rId3" Type="http://schemas.openxmlformats.org/officeDocument/2006/relationships/hyperlink" Target="https://www.linkedin.com/in/nels2248/" TargetMode="External"/><Relationship Id="rId7" Type="http://schemas.openxmlformats.org/officeDocument/2006/relationships/hyperlink" Target="https://github.com/nels2248/CongressFabri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gress-web-app.azurewebsites.net/Model" TargetMode="External"/><Relationship Id="rId5" Type="http://schemas.openxmlformats.org/officeDocument/2006/relationships/hyperlink" Target="https://app.powerbi.com/view?r=eyJrIjoiYzBmZmRiMzItYjllNi00YmJlLTkzZTItODRiZmUxZTJhZDVmIiwidCI6IjI4NTAzNWRhLTg3MmEtNGQ3Yy04OTIyLWVlYTcxOTU1MWYxMiIsImMiOjN9" TargetMode="External"/><Relationship Id="rId4" Type="http://schemas.openxmlformats.org/officeDocument/2006/relationships/hyperlink" Target="mailto:cnelson@teamscs.com" TargetMode="Externa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info.gov/bulkdata/BILLSTATUS/119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info.gov/bulkdata/BILLSTATU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nels2248/Congress" TargetMode="External"/><Relationship Id="rId4" Type="http://schemas.openxmlformats.org/officeDocument/2006/relationships/hyperlink" Target="https://congress-web-app.azurewebsites.net/Mode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ls2248/Congress" TargetMode="External"/><Relationship Id="rId3" Type="http://schemas.openxmlformats.org/officeDocument/2006/relationships/hyperlink" Target="https://www.linkedin.com/in/nels2248/" TargetMode="External"/><Relationship Id="rId7" Type="http://schemas.openxmlformats.org/officeDocument/2006/relationships/hyperlink" Target="https://github.com/nels2248/CongressFabric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gress-web-app.azurewebsites.net/Model" TargetMode="External"/><Relationship Id="rId5" Type="http://schemas.openxmlformats.org/officeDocument/2006/relationships/hyperlink" Target="https://app.powerbi.com/view?r=eyJrIjoiYzBmZmRiMzItYjllNi00YmJlLTkzZTItODRiZmUxZTJhZDVmIiwidCI6IjI4NTAzNWRhLTg3MmEtNGQ3Yy04OTIyLWVlYTcxOTU1MWYxMiIsImMiOjN9" TargetMode="External"/><Relationship Id="rId4" Type="http://schemas.openxmlformats.org/officeDocument/2006/relationships/hyperlink" Target="mailto:cnelson@teamscs.com" TargetMode="Externa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822960" cy="10058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H="1">
            <a:off x="640080" y="2103120"/>
            <a:ext cx="1097280" cy="10058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37360" y="2103120"/>
            <a:ext cx="457200" cy="19202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H="1">
            <a:off x="1188720" y="4023360"/>
            <a:ext cx="1005840" cy="109728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5120640"/>
            <a:ext cx="1463040" cy="5486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81360" y="1005840"/>
            <a:ext cx="640080" cy="10058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10332720" y="2011680"/>
            <a:ext cx="1188720" cy="82296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332720" y="2834640"/>
            <a:ext cx="1005840" cy="109728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10607040" y="3931920"/>
            <a:ext cx="731520" cy="109728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607040" y="5029200"/>
            <a:ext cx="1005840" cy="73152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1051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9164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30632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48840" y="39776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43000" y="5074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06040" y="5623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835640" y="9601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475720" y="19659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87000" y="2788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292840" y="38862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561320" y="49834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567160" y="57150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CONGRESS119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for Legislative Intelligence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Predicting, explaining, and mapping the path of a bill through the 119th Congress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4663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Chad Nelson  |  Senior Data and Analytics Consultant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(Link to LinkedIn Page)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cnelson@teamscs.com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nels2248@gmail.com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26194E-4535-2739-C4ED-319E85C70A6A}"/>
              </a:ext>
            </a:extLst>
          </p:cNvPr>
          <p:cNvSpPr txBox="1"/>
          <p:nvPr/>
        </p:nvSpPr>
        <p:spPr>
          <a:xfrm>
            <a:off x="822960" y="5770209"/>
            <a:ext cx="314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Power BI Dashboard Link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AF6ADB-3E5C-78DF-C6FE-EABC5CA03A13}"/>
              </a:ext>
            </a:extLst>
          </p:cNvPr>
          <p:cNvSpPr txBox="1"/>
          <p:nvPr/>
        </p:nvSpPr>
        <p:spPr>
          <a:xfrm>
            <a:off x="3968151" y="5773493"/>
            <a:ext cx="6638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dotnet Web App (may require a few clicks as it goes cold)</a:t>
            </a:r>
            <a:r>
              <a:rPr lang="en-US" dirty="0">
                <a:solidFill>
                  <a:srgbClr val="0070C0"/>
                </a:solidFill>
              </a:rPr>
              <a:t> Link</a:t>
            </a:r>
          </a:p>
        </p:txBody>
      </p:sp>
      <p:sp>
        <p:nvSpPr>
          <p:cNvPr id="33" name="TextBox 32">
            <a:hlinkClick r:id="rId7"/>
            <a:extLst>
              <a:ext uri="{FF2B5EF4-FFF2-40B4-BE49-F238E27FC236}">
                <a16:creationId xmlns:a16="http://schemas.microsoft.com/office/drawing/2014/main" id="{EE0E62C1-6AAB-6A1E-C073-5D2A076FAFCB}"/>
              </a:ext>
            </a:extLst>
          </p:cNvPr>
          <p:cNvSpPr txBox="1"/>
          <p:nvPr/>
        </p:nvSpPr>
        <p:spPr>
          <a:xfrm>
            <a:off x="822959" y="6243754"/>
            <a:ext cx="314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Github</a:t>
            </a:r>
            <a:r>
              <a:rPr lang="en-US" dirty="0">
                <a:solidFill>
                  <a:srgbClr val="0070C0"/>
                </a:solidFill>
              </a:rPr>
              <a:t> Repo of Fabric Setup</a:t>
            </a:r>
          </a:p>
        </p:txBody>
      </p:sp>
      <p:sp>
        <p:nvSpPr>
          <p:cNvPr id="36" name="TextBox 35">
            <a:hlinkClick r:id="rId8"/>
            <a:extLst>
              <a:ext uri="{FF2B5EF4-FFF2-40B4-BE49-F238E27FC236}">
                <a16:creationId xmlns:a16="http://schemas.microsoft.com/office/drawing/2014/main" id="{BF87B8A9-659E-F48A-CBE5-7898DCAEC76D}"/>
              </a:ext>
            </a:extLst>
          </p:cNvPr>
          <p:cNvSpPr txBox="1"/>
          <p:nvPr/>
        </p:nvSpPr>
        <p:spPr>
          <a:xfrm>
            <a:off x="3968150" y="6240470"/>
            <a:ext cx="599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Github</a:t>
            </a:r>
            <a:r>
              <a:rPr lang="en-US" dirty="0">
                <a:solidFill>
                  <a:srgbClr val="0070C0"/>
                </a:solidFill>
              </a:rPr>
              <a:t> Repo of Azure Functions/dotnet App Link</a:t>
            </a: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416BA25E-9CF2-A8E4-8A0A-4A8267E001BB}"/>
              </a:ext>
            </a:extLst>
          </p:cNvPr>
          <p:cNvSpPr/>
          <p:nvPr/>
        </p:nvSpPr>
        <p:spPr>
          <a:xfrm>
            <a:off x="8980961" y="3734745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</a:rPr>
              <a:t>Feedback</a:t>
            </a: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B47B199-A0DC-27C0-FD3A-0C7FA934DC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7576" y="4125815"/>
            <a:ext cx="885933" cy="8729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AB3AF-6D2F-CC39-F45B-D98AE86F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DE2B3F-2487-212F-C532-09BAF17DB03C}"/>
              </a:ext>
            </a:extLst>
          </p:cNvPr>
          <p:cNvSpPr/>
          <p:nvPr/>
        </p:nvSpPr>
        <p:spPr>
          <a:xfrm>
            <a:off x="914400" y="1097280"/>
            <a:ext cx="822960" cy="10058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426507-550F-7A5B-F66E-6C2A4BCE78F3}"/>
              </a:ext>
            </a:extLst>
          </p:cNvPr>
          <p:cNvSpPr/>
          <p:nvPr/>
        </p:nvSpPr>
        <p:spPr>
          <a:xfrm flipH="1">
            <a:off x="640080" y="2103120"/>
            <a:ext cx="1097280" cy="10058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26D84C-52C7-7028-8882-B2FD930B2FD1}"/>
              </a:ext>
            </a:extLst>
          </p:cNvPr>
          <p:cNvSpPr/>
          <p:nvPr/>
        </p:nvSpPr>
        <p:spPr>
          <a:xfrm flipH="1">
            <a:off x="1188720" y="4023360"/>
            <a:ext cx="1005840" cy="109728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BA6269-EED6-FCE0-362A-A6563874C51C}"/>
              </a:ext>
            </a:extLst>
          </p:cNvPr>
          <p:cNvSpPr/>
          <p:nvPr/>
        </p:nvSpPr>
        <p:spPr>
          <a:xfrm>
            <a:off x="1188720" y="5120640"/>
            <a:ext cx="1463040" cy="5486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6E95E7B-13CE-D722-7BD5-E571B7FACEF3}"/>
              </a:ext>
            </a:extLst>
          </p:cNvPr>
          <p:cNvSpPr/>
          <p:nvPr/>
        </p:nvSpPr>
        <p:spPr>
          <a:xfrm>
            <a:off x="10881360" y="1005840"/>
            <a:ext cx="640080" cy="100584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92B70A-ACD4-F73D-5131-340B68FB26D3}"/>
              </a:ext>
            </a:extLst>
          </p:cNvPr>
          <p:cNvSpPr/>
          <p:nvPr/>
        </p:nvSpPr>
        <p:spPr>
          <a:xfrm flipH="1">
            <a:off x="10332720" y="2011680"/>
            <a:ext cx="1188720" cy="82296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6EE5C29-A5F9-8C4B-5BE3-0AAB2F403E9B}"/>
              </a:ext>
            </a:extLst>
          </p:cNvPr>
          <p:cNvSpPr/>
          <p:nvPr/>
        </p:nvSpPr>
        <p:spPr>
          <a:xfrm>
            <a:off x="10332720" y="2834640"/>
            <a:ext cx="1005840" cy="109728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B694D4A-6941-0F10-E807-48488FD3607E}"/>
              </a:ext>
            </a:extLst>
          </p:cNvPr>
          <p:cNvSpPr/>
          <p:nvPr/>
        </p:nvSpPr>
        <p:spPr>
          <a:xfrm flipH="1">
            <a:off x="10607040" y="3931920"/>
            <a:ext cx="731520" cy="109728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D20920A-A1B3-75D3-A340-A35348817DE4}"/>
              </a:ext>
            </a:extLst>
          </p:cNvPr>
          <p:cNvSpPr/>
          <p:nvPr/>
        </p:nvSpPr>
        <p:spPr>
          <a:xfrm>
            <a:off x="10607040" y="5029200"/>
            <a:ext cx="1005840" cy="731520"/>
          </a:xfrm>
          <a:prstGeom prst="line">
            <a:avLst/>
          </a:prstGeom>
          <a:noFill/>
          <a:ln w="15875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246843-0739-DC21-3D08-66D2B0B91E5A}"/>
              </a:ext>
            </a:extLst>
          </p:cNvPr>
          <p:cNvSpPr/>
          <p:nvPr/>
        </p:nvSpPr>
        <p:spPr>
          <a:xfrm>
            <a:off x="868680" y="1051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2FE79F-F66A-29CC-5103-831F4D59E721}"/>
              </a:ext>
            </a:extLst>
          </p:cNvPr>
          <p:cNvSpPr/>
          <p:nvPr/>
        </p:nvSpPr>
        <p:spPr>
          <a:xfrm>
            <a:off x="169164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C86FD61-273A-B036-84E2-1DC6FACC9149}"/>
              </a:ext>
            </a:extLst>
          </p:cNvPr>
          <p:cNvSpPr/>
          <p:nvPr/>
        </p:nvSpPr>
        <p:spPr>
          <a:xfrm>
            <a:off x="594360" y="30632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B28B31C-6707-7E05-22F7-5D73B1BFB800}"/>
              </a:ext>
            </a:extLst>
          </p:cNvPr>
          <p:cNvSpPr/>
          <p:nvPr/>
        </p:nvSpPr>
        <p:spPr>
          <a:xfrm>
            <a:off x="2148840" y="39776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D9FD474-A97D-090F-D400-D0696D10F5BE}"/>
              </a:ext>
            </a:extLst>
          </p:cNvPr>
          <p:cNvSpPr/>
          <p:nvPr/>
        </p:nvSpPr>
        <p:spPr>
          <a:xfrm>
            <a:off x="1143000" y="5074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1EA34A6-0453-E704-9A16-BEA103A4E5E2}"/>
              </a:ext>
            </a:extLst>
          </p:cNvPr>
          <p:cNvSpPr/>
          <p:nvPr/>
        </p:nvSpPr>
        <p:spPr>
          <a:xfrm>
            <a:off x="2606040" y="5623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53B3766-DF42-3810-C68E-9BD02EBE0F94}"/>
              </a:ext>
            </a:extLst>
          </p:cNvPr>
          <p:cNvSpPr/>
          <p:nvPr/>
        </p:nvSpPr>
        <p:spPr>
          <a:xfrm>
            <a:off x="10835640" y="9601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A81BE37-F43A-6B6D-A4C9-0515CCC8267E}"/>
              </a:ext>
            </a:extLst>
          </p:cNvPr>
          <p:cNvSpPr/>
          <p:nvPr/>
        </p:nvSpPr>
        <p:spPr>
          <a:xfrm>
            <a:off x="11475720" y="19659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D139572-1AF4-01FD-B6C4-1F68226A8F25}"/>
              </a:ext>
            </a:extLst>
          </p:cNvPr>
          <p:cNvSpPr/>
          <p:nvPr/>
        </p:nvSpPr>
        <p:spPr>
          <a:xfrm>
            <a:off x="10287000" y="27889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AFCCC95-C1ED-B93A-8485-226AF0F13DAC}"/>
              </a:ext>
            </a:extLst>
          </p:cNvPr>
          <p:cNvSpPr/>
          <p:nvPr/>
        </p:nvSpPr>
        <p:spPr>
          <a:xfrm>
            <a:off x="11292840" y="38862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2E314D0-DB1B-796E-6D10-CF0C7D15A960}"/>
              </a:ext>
            </a:extLst>
          </p:cNvPr>
          <p:cNvSpPr/>
          <p:nvPr/>
        </p:nvSpPr>
        <p:spPr>
          <a:xfrm>
            <a:off x="10561320" y="49834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1037DE6-AF10-F353-F105-3785A5465533}"/>
              </a:ext>
            </a:extLst>
          </p:cNvPr>
          <p:cNvSpPr/>
          <p:nvPr/>
        </p:nvSpPr>
        <p:spPr>
          <a:xfrm>
            <a:off x="11567160" y="57150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C2DB8A6-C2D8-7E28-D58B-7B04887E6F70}"/>
              </a:ext>
            </a:extLst>
          </p:cNvPr>
          <p:cNvSpPr/>
          <p:nvPr/>
        </p:nvSpPr>
        <p:spPr>
          <a:xfrm>
            <a:off x="685800" y="2967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CONGRESS119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FE79EDC-A183-2336-2D09-B6C749E956E1}"/>
              </a:ext>
            </a:extLst>
          </p:cNvPr>
          <p:cNvSpPr/>
          <p:nvPr/>
        </p:nvSpPr>
        <p:spPr>
          <a:xfrm>
            <a:off x="786298" y="1085634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for Legislative Intelligence</a:t>
            </a:r>
            <a:endParaRPr lang="en-US" sz="4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11988F8-95E7-50C5-0838-53AF8A221D5D}"/>
              </a:ext>
            </a:extLst>
          </p:cNvPr>
          <p:cNvSpPr/>
          <p:nvPr/>
        </p:nvSpPr>
        <p:spPr>
          <a:xfrm>
            <a:off x="82296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018F50D5-F1D0-B038-9D3E-790C39B5A1CF}"/>
              </a:ext>
            </a:extLst>
          </p:cNvPr>
          <p:cNvSpPr/>
          <p:nvPr/>
        </p:nvSpPr>
        <p:spPr>
          <a:xfrm>
            <a:off x="3337560" y="2834640"/>
            <a:ext cx="5483860" cy="3557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Time</a:t>
            </a:r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 / What this Project Does</a:t>
            </a:r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shows</a:t>
            </a:r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Processing</a:t>
            </a:r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Dashboard/Scripts/Machine Learning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Graphs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Pilot</a:t>
            </a:r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Vision</a:t>
            </a: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5A86D7ED-3176-B713-A8AA-2E6AACD89BFF}"/>
              </a:ext>
            </a:extLst>
          </p:cNvPr>
          <p:cNvSpPr/>
          <p:nvPr/>
        </p:nvSpPr>
        <p:spPr>
          <a:xfrm>
            <a:off x="820372" y="2307565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A67C18BC-04F3-DAF5-0EE0-FCD8944B3D3E}"/>
              </a:ext>
            </a:extLst>
          </p:cNvPr>
          <p:cNvSpPr/>
          <p:nvPr/>
        </p:nvSpPr>
        <p:spPr>
          <a:xfrm>
            <a:off x="9304452" y="532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</a:rPr>
              <a:t>Feedback</a:t>
            </a:r>
            <a:endParaRPr lang="en-US" sz="15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BC1DE2-6F07-9869-38BB-2467F55AB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067" y="5719990"/>
            <a:ext cx="885933" cy="87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6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4875744-BD09-1712-ADFB-0C88279680CF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CA9D4EB-5808-801B-ADD5-49906FB694B5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 Am &amp; What This Project Does</a:t>
            </a:r>
            <a:endParaRPr lang="en-US" sz="30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B3C8D44-9CA2-0EDD-DB42-8C14F4088B71}"/>
              </a:ext>
            </a:extLst>
          </p:cNvPr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B3C04C-1C8A-F880-CB8F-242E00AD4140}"/>
              </a:ext>
            </a:extLst>
          </p:cNvPr>
          <p:cNvSpPr/>
          <p:nvPr/>
        </p:nvSpPr>
        <p:spPr>
          <a:xfrm>
            <a:off x="868680" y="2606040"/>
            <a:ext cx="4754880" cy="2440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 and Analytics Consult at Superior Consulting Services with over 20 years experience across various industries</a:t>
            </a:r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Microsoft Fabric more frequently for end to end solutions.  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Master of Data Science in August from North Dakota State University (NDSU) 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DCEBBF5-6E73-8473-BAC2-1992CEC3B52D}"/>
              </a:ext>
            </a:extLst>
          </p:cNvPr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374645-AB5E-5140-BCB9-DD1369456E4D}"/>
              </a:ext>
            </a:extLst>
          </p:cNvPr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3BB6749-68E2-1982-CF29-D30A42BE7577}"/>
              </a:ext>
            </a:extLst>
          </p:cNvPr>
          <p:cNvSpPr/>
          <p:nvPr/>
        </p:nvSpPr>
        <p:spPr>
          <a:xfrm>
            <a:off x="7223760" y="19385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19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552D83A-B63F-3E21-62F6-542B42E9788E}"/>
              </a:ext>
            </a:extLst>
          </p:cNvPr>
          <p:cNvSpPr/>
          <p:nvPr/>
        </p:nvSpPr>
        <p:spPr>
          <a:xfrm>
            <a:off x="6583680" y="260604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ingesting live 119th Congress bill data from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GovInfo.gov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medallion architecture — Bronze, Silver, and Gold Delta Lake layers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on DirectLake for near real-time exploration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layer on top that predicts, explains, and maps legislative behavior — the focus of this deck</a:t>
            </a:r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vision to move off Microsoft Fabric and use Azure Database, Python in Azure Data Functions, dotnet Web App</a:t>
            </a:r>
            <a:endParaRPr lang="en-US" sz="13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11140136-1C17-4E7C-DF56-BD0B637292B6}"/>
              </a:ext>
            </a:extLst>
          </p:cNvPr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624D3E7E-4BEF-E916-337D-336267369789}"/>
              </a:ext>
            </a:extLst>
          </p:cNvPr>
          <p:cNvSpPr/>
          <p:nvPr/>
        </p:nvSpPr>
        <p:spPr>
          <a:xfrm>
            <a:off x="1508760" y="1938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 Am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42428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data does this show?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973128"/>
          </a:xfrm>
          <a:prstGeom prst="roundRect">
            <a:avLst>
              <a:gd name="adj" fmla="val 1633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606039"/>
            <a:ext cx="4754880" cy="373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https://www.govinfo.gov/bulkdata/BILLSTATUS/</a:t>
            </a: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 - Tried the API but kept timing out and since refreshing nightly went this route.   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Each Bill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Sponsors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Amendments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Bills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</a:p>
          <a:p>
            <a:pPr marL="800100" lvl="1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19385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Standard Items for Each Bill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4709160" cy="2518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of Bill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Area</a:t>
            </a:r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">
            <a:extLst>
              <a:ext uri="{FF2B5EF4-FFF2-40B4-BE49-F238E27FC236}">
                <a16:creationId xmlns:a16="http://schemas.microsoft.com/office/drawing/2014/main" id="{D99D9329-6C2B-2FF8-968E-8C6304C2A432}"/>
              </a:ext>
            </a:extLst>
          </p:cNvPr>
          <p:cNvSpPr/>
          <p:nvPr/>
        </p:nvSpPr>
        <p:spPr>
          <a:xfrm>
            <a:off x="127008" y="810768"/>
            <a:ext cx="8959970" cy="596096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7" name="Flowchart: Magnetic Disk 46">
            <a:extLst>
              <a:ext uri="{FF2B5EF4-FFF2-40B4-BE49-F238E27FC236}">
                <a16:creationId xmlns:a16="http://schemas.microsoft.com/office/drawing/2014/main" id="{E84E1FFA-6672-1434-574E-7AFA03466E9E}"/>
              </a:ext>
            </a:extLst>
          </p:cNvPr>
          <p:cNvSpPr/>
          <p:nvPr/>
        </p:nvSpPr>
        <p:spPr>
          <a:xfrm>
            <a:off x="6406776" y="3219743"/>
            <a:ext cx="1973267" cy="1078301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Multidocument 45">
            <a:extLst>
              <a:ext uri="{FF2B5EF4-FFF2-40B4-BE49-F238E27FC236}">
                <a16:creationId xmlns:a16="http://schemas.microsoft.com/office/drawing/2014/main" id="{02EDA3D1-E8B7-5CC3-223A-BA42C8EFC491}"/>
              </a:ext>
            </a:extLst>
          </p:cNvPr>
          <p:cNvSpPr/>
          <p:nvPr/>
        </p:nvSpPr>
        <p:spPr>
          <a:xfrm>
            <a:off x="6406776" y="1481328"/>
            <a:ext cx="1973268" cy="1526876"/>
          </a:xfrm>
          <a:prstGeom prst="flowChartMultidocumen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Punched Tape 44">
            <a:extLst>
              <a:ext uri="{FF2B5EF4-FFF2-40B4-BE49-F238E27FC236}">
                <a16:creationId xmlns:a16="http://schemas.microsoft.com/office/drawing/2014/main" id="{757E4947-7680-861F-4BDA-45ADC0A7A1CE}"/>
              </a:ext>
            </a:extLst>
          </p:cNvPr>
          <p:cNvSpPr/>
          <p:nvPr/>
        </p:nvSpPr>
        <p:spPr>
          <a:xfrm>
            <a:off x="263459" y="1531066"/>
            <a:ext cx="2168725" cy="1331056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4A9CC91-0AC7-3ECA-22E1-CF6399663791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464A325-9C7E-35E3-0C20-BA013F778679}"/>
              </a:ext>
            </a:extLst>
          </p:cNvPr>
          <p:cNvSpPr/>
          <p:nvPr/>
        </p:nvSpPr>
        <p:spPr>
          <a:xfrm>
            <a:off x="548640" y="658368"/>
            <a:ext cx="433391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Nightly Processing</a:t>
            </a:r>
            <a:endParaRPr lang="en-US" sz="3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8C15350-983D-E710-975C-2A78141E43EF}"/>
              </a:ext>
            </a:extLst>
          </p:cNvPr>
          <p:cNvSpPr/>
          <p:nvPr/>
        </p:nvSpPr>
        <p:spPr>
          <a:xfrm>
            <a:off x="402382" y="2054107"/>
            <a:ext cx="1772308" cy="284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data (Step 1)</a:t>
            </a:r>
            <a:endParaRPr lang="en-US" sz="15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888B030-8FBD-6824-973A-4396C95B73C7}"/>
              </a:ext>
            </a:extLst>
          </p:cNvPr>
          <p:cNvSpPr/>
          <p:nvPr/>
        </p:nvSpPr>
        <p:spPr>
          <a:xfrm>
            <a:off x="6547589" y="3758893"/>
            <a:ext cx="1691640" cy="344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Lakehouse SQL</a:t>
            </a:r>
            <a:endParaRPr lang="en-US" sz="16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5B0F526A-3DCD-954F-62D5-217B0C7DF579}"/>
              </a:ext>
            </a:extLst>
          </p:cNvPr>
          <p:cNvSpPr/>
          <p:nvPr/>
        </p:nvSpPr>
        <p:spPr>
          <a:xfrm>
            <a:off x="6467161" y="2043809"/>
            <a:ext cx="1691640" cy="344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Lakehouse files</a:t>
            </a:r>
            <a:endParaRPr lang="en-US" sz="15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A50AA3A-6F5C-AD65-BFA1-19FCFC4CF99E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2432184" y="2196594"/>
            <a:ext cx="3974592" cy="48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4C0818D-EDCD-FEBC-F5B6-116B06910F31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H="1">
            <a:off x="7393410" y="2244766"/>
            <a:ext cx="986634" cy="974977"/>
          </a:xfrm>
          <a:prstGeom prst="curvedConnector4">
            <a:avLst>
              <a:gd name="adj1" fmla="val -23170"/>
              <a:gd name="adj2" fmla="val 891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lowchart: Punched Tape 68">
            <a:extLst>
              <a:ext uri="{FF2B5EF4-FFF2-40B4-BE49-F238E27FC236}">
                <a16:creationId xmlns:a16="http://schemas.microsoft.com/office/drawing/2014/main" id="{1265015A-FF35-25DC-F7BC-B221E7BBD7BA}"/>
              </a:ext>
            </a:extLst>
          </p:cNvPr>
          <p:cNvSpPr/>
          <p:nvPr/>
        </p:nvSpPr>
        <p:spPr>
          <a:xfrm>
            <a:off x="263459" y="2982108"/>
            <a:ext cx="2108340" cy="1435869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 8">
            <a:extLst>
              <a:ext uri="{FF2B5EF4-FFF2-40B4-BE49-F238E27FC236}">
                <a16:creationId xmlns:a16="http://schemas.microsoft.com/office/drawing/2014/main" id="{88F69C1F-1F99-188B-585B-94A204026296}"/>
              </a:ext>
            </a:extLst>
          </p:cNvPr>
          <p:cNvSpPr/>
          <p:nvPr/>
        </p:nvSpPr>
        <p:spPr>
          <a:xfrm>
            <a:off x="341997" y="3539478"/>
            <a:ext cx="1810512" cy="344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Machine Learning (Step 2)</a:t>
            </a:r>
            <a:endParaRPr lang="en-US" sz="15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B359CE4-EB45-BDF7-37E8-103D8B22CFD4}"/>
              </a:ext>
            </a:extLst>
          </p:cNvPr>
          <p:cNvCxnSpPr>
            <a:cxnSpLocks/>
            <a:stCxn id="47" idx="2"/>
            <a:endCxn id="69" idx="3"/>
          </p:cNvCxnSpPr>
          <p:nvPr/>
        </p:nvCxnSpPr>
        <p:spPr>
          <a:xfrm flipH="1" flipV="1">
            <a:off x="2371799" y="3700043"/>
            <a:ext cx="4034977" cy="58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E46C88A-10B2-2D70-A97E-35FD2CA90D1C}"/>
              </a:ext>
            </a:extLst>
          </p:cNvPr>
          <p:cNvCxnSpPr>
            <a:cxnSpLocks/>
            <a:stCxn id="69" idx="2"/>
            <a:endCxn id="47" idx="3"/>
          </p:cNvCxnSpPr>
          <p:nvPr/>
        </p:nvCxnSpPr>
        <p:spPr>
          <a:xfrm rot="16200000" flipH="1">
            <a:off x="4343692" y="1248326"/>
            <a:ext cx="23654" cy="6075781"/>
          </a:xfrm>
          <a:prstGeom prst="curvedConnector3">
            <a:avLst>
              <a:gd name="adj1" fmla="val 15734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Picture 92">
            <a:extLst>
              <a:ext uri="{FF2B5EF4-FFF2-40B4-BE49-F238E27FC236}">
                <a16:creationId xmlns:a16="http://schemas.microsoft.com/office/drawing/2014/main" id="{27A7ABAB-8A68-D519-CF90-B43DBFBBF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82" y="5290194"/>
            <a:ext cx="3496163" cy="1267002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EFDE4AE-0FC7-8356-34EE-094F3418386E}"/>
              </a:ext>
            </a:extLst>
          </p:cNvPr>
          <p:cNvCxnSpPr>
            <a:cxnSpLocks/>
            <a:stCxn id="47" idx="4"/>
            <a:endCxn id="93" idx="0"/>
          </p:cNvCxnSpPr>
          <p:nvPr/>
        </p:nvCxnSpPr>
        <p:spPr>
          <a:xfrm flipH="1">
            <a:off x="2356564" y="3758894"/>
            <a:ext cx="6023479" cy="1531300"/>
          </a:xfrm>
          <a:prstGeom prst="curvedConnector4">
            <a:avLst>
              <a:gd name="adj1" fmla="val -3795"/>
              <a:gd name="adj2" fmla="val 676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 8">
            <a:extLst>
              <a:ext uri="{FF2B5EF4-FFF2-40B4-BE49-F238E27FC236}">
                <a16:creationId xmlns:a16="http://schemas.microsoft.com/office/drawing/2014/main" id="{A995C809-E048-380C-57A2-757236624884}"/>
              </a:ext>
            </a:extLst>
          </p:cNvPr>
          <p:cNvSpPr/>
          <p:nvPr/>
        </p:nvSpPr>
        <p:spPr>
          <a:xfrm>
            <a:off x="482426" y="5304556"/>
            <a:ext cx="2278027" cy="344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Step 3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668A76-AEF0-22FF-DEF9-7128E0E0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9325" y="3347089"/>
            <a:ext cx="1678893" cy="1167700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C171FBB2-7630-1334-1CA1-C8EA7674F41E}"/>
              </a:ext>
            </a:extLst>
          </p:cNvPr>
          <p:cNvSpPr/>
          <p:nvPr/>
        </p:nvSpPr>
        <p:spPr>
          <a:xfrm>
            <a:off x="9659757" y="2875651"/>
            <a:ext cx="2278027" cy="344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</a:rPr>
              <a:t>Step 4</a:t>
            </a:r>
            <a:endParaRPr lang="en-US" sz="1500" dirty="0"/>
          </a:p>
        </p:txBody>
      </p:sp>
      <p:cxnSp>
        <p:nvCxnSpPr>
          <p:cNvPr id="24" name="Straight Arrow Connector 93">
            <a:extLst>
              <a:ext uri="{FF2B5EF4-FFF2-40B4-BE49-F238E27FC236}">
                <a16:creationId xmlns:a16="http://schemas.microsoft.com/office/drawing/2014/main" id="{40B483B9-1BBD-3756-66BD-AD7AB09E9670}"/>
              </a:ext>
            </a:extLst>
          </p:cNvPr>
          <p:cNvCxnSpPr>
            <a:cxnSpLocks/>
            <a:stCxn id="93" idx="3"/>
            <a:endCxn id="20" idx="2"/>
          </p:cNvCxnSpPr>
          <p:nvPr/>
        </p:nvCxnSpPr>
        <p:spPr>
          <a:xfrm flipV="1">
            <a:off x="4104645" y="4514789"/>
            <a:ext cx="6694127" cy="140890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79">
            <a:extLst>
              <a:ext uri="{FF2B5EF4-FFF2-40B4-BE49-F238E27FC236}">
                <a16:creationId xmlns:a16="http://schemas.microsoft.com/office/drawing/2014/main" id="{5A5C1264-9A34-E67B-10B4-B7F73B068165}"/>
              </a:ext>
            </a:extLst>
          </p:cNvPr>
          <p:cNvCxnSpPr>
            <a:cxnSpLocks/>
            <a:stCxn id="47" idx="4"/>
            <a:endCxn id="20" idx="1"/>
          </p:cNvCxnSpPr>
          <p:nvPr/>
        </p:nvCxnSpPr>
        <p:spPr>
          <a:xfrm>
            <a:off x="8380043" y="3758894"/>
            <a:ext cx="1579282" cy="17204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097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Fits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BillStatus XML from GovInfo.gov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840480"/>
            <a:ext cx="320040" cy="0"/>
          </a:xfrm>
          <a:prstGeom prst="line">
            <a:avLst/>
          </a:prstGeom>
          <a:noFill/>
          <a:ln w="25400">
            <a:solidFill>
              <a:srgbClr val="6B6F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3A4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2971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35204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Normalized, deduplicated  tables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3840480"/>
            <a:ext cx="320040" cy="0"/>
          </a:xfrm>
          <a:prstGeom prst="line">
            <a:avLst/>
          </a:prstGeom>
          <a:noFill/>
          <a:ln w="25400">
            <a:solidFill>
              <a:srgbClr val="6B6F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0" y="27432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2971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35204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views ready for ML &amp; BI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78040" y="3840480"/>
            <a:ext cx="320040" cy="0"/>
          </a:xfrm>
          <a:prstGeom prst="line">
            <a:avLst/>
          </a:prstGeom>
          <a:noFill/>
          <a:ln w="25400">
            <a:solidFill>
              <a:srgbClr val="6B6F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0" y="27432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35240" y="2971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35240" y="35204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SHAP · Network · Clustering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64040" y="3840480"/>
            <a:ext cx="320040" cy="0"/>
          </a:xfrm>
          <a:prstGeom prst="line">
            <a:avLst/>
          </a:prstGeom>
          <a:noFill/>
          <a:ln w="25400">
            <a:solidFill>
              <a:srgbClr val="6B6F8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84080" y="27432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21240" y="2971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and Copilot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21240" y="352044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DirectLake dashboards for clients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medallion architecture (Bronze → Silver → Gold) feeds a Gold-layer feature table that all four ML components read from — keeping predictions, explanations, and graph structure consistent with what's on the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OF THIS DECK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Layer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working together on Gold-layer bill data to predict outcomes, explain them, and reveal structure in how Congress operates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86418" y="4454681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45641" y="4693632"/>
            <a:ext cx="535052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60820" y="5150401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60820" y="5470441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bill outcomes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260241" y="4494793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43121" y="5226313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Values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635240" y="690975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predictions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76579" y="44348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05179" y="466344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05179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59459" y="5166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Graph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859459" y="5486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relationships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61979" y="4732020"/>
            <a:ext cx="643961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r>
              <a:rPr lang="en-US" sz="1200" dirty="0"/>
              <a:t>1</a:t>
            </a:r>
          </a:p>
        </p:txBody>
      </p:sp>
      <p:sp>
        <p:nvSpPr>
          <p:cNvPr id="22" name="Text 20"/>
          <p:cNvSpPr/>
          <p:nvPr/>
        </p:nvSpPr>
        <p:spPr>
          <a:xfrm>
            <a:off x="6745640" y="4693632"/>
            <a:ext cx="53505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1049" y="5203453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22297" y="5522631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topics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D2349C78-3F65-8AD7-CDE4-0C62E47F5931}"/>
              </a:ext>
            </a:extLst>
          </p:cNvPr>
          <p:cNvSpPr/>
          <p:nvPr/>
        </p:nvSpPr>
        <p:spPr>
          <a:xfrm>
            <a:off x="9551599" y="4746253"/>
            <a:ext cx="643961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1200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D9CE9505-CEBB-A10E-4253-DF4CEE2D89B1}"/>
              </a:ext>
            </a:extLst>
          </p:cNvPr>
          <p:cNvSpPr/>
          <p:nvPr/>
        </p:nvSpPr>
        <p:spPr>
          <a:xfrm>
            <a:off x="7021613" y="4494793"/>
            <a:ext cx="411480" cy="762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A96E3D8-56E3-71AE-9335-5CA6FBC2E63D}"/>
              </a:ext>
            </a:extLst>
          </p:cNvPr>
          <p:cNvSpPr/>
          <p:nvPr/>
        </p:nvSpPr>
        <p:spPr>
          <a:xfrm>
            <a:off x="9606052" y="4744672"/>
            <a:ext cx="53505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6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13447535-1E93-5940-B77A-4003654F2C5C}"/>
              </a:ext>
            </a:extLst>
          </p:cNvPr>
          <p:cNvSpPr/>
          <p:nvPr/>
        </p:nvSpPr>
        <p:spPr>
          <a:xfrm>
            <a:off x="9296257" y="5516161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Outcomes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— Topic Discovery in Bill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bills by what they're actually about, independent of their official policy_area tag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6035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on bill summary text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from </a:t>
            </a:r>
            <a:r>
              <a:rPr lang="en-US" sz="1250" dirty="0" err="1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policy_area</a:t>
            </a: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clusters emerge from the language of the bill itself, not a fixed taxonomy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assignment stored per bill for exploration in Lakehouse alongside the RF prediction and SHAP explanation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233172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80960" y="2971800"/>
            <a:ext cx="3657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often span more than one policy area. Clustering exposes those overlaps and mislabeled categories that the official taxonomy hides.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4983480"/>
            <a:ext cx="3566160" cy="0"/>
          </a:xfrm>
          <a:prstGeom prst="line">
            <a:avLst/>
          </a:prstGeom>
          <a:noFill/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5074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68096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Graph — Cosponsor Relationships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how legislators connect through shared bill sponsorship, and scores who sits at the center of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8153" y="2331720"/>
            <a:ext cx="6675120" cy="4436565"/>
          </a:xfrm>
          <a:prstGeom prst="roundRect">
            <a:avLst>
              <a:gd name="adj" fmla="val 19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437049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2897569"/>
            <a:ext cx="6035040" cy="1580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legislators (or bills); edges = cosponsorship relationships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measures — degree and betweenness — identify influential legislators and bridge bills that connect otherwise separate coalitions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as a Force-Directed Graph visual in Power BI, connected via DirectLake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Shown in </a:t>
            </a:r>
            <a:r>
              <a:rPr lang="en-US" sz="1250" dirty="0" err="1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233172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80960" y="2971800"/>
            <a:ext cx="3657600" cy="1102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surfaces the bipartisan bridge-builders and coalition brokers that a simple bill-count leaderboard would miss entirely.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4074252"/>
            <a:ext cx="3566160" cy="0"/>
          </a:xfrm>
          <a:prstGeom prst="line">
            <a:avLst/>
          </a:prstGeom>
          <a:noFill/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917C46-2AC9-ABA2-6238-BD87DF700E11}"/>
              </a:ext>
            </a:extLst>
          </p:cNvPr>
          <p:cNvSpPr txBox="1"/>
          <p:nvPr/>
        </p:nvSpPr>
        <p:spPr>
          <a:xfrm>
            <a:off x="868680" y="4857920"/>
            <a:ext cx="576395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Degree centrality</a:t>
            </a:r>
            <a:r>
              <a:rPr lang="en-US" sz="1050" dirty="0"/>
              <a:t> — how many other members a given legislator has cosponsored bills with (or been cosponsored by). High degree = broadly connected, works across many relationships. This is the simplest one and just counts direct edges.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Betweenness centrality</a:t>
            </a:r>
            <a:r>
              <a:rPr lang="en-US" sz="1050" dirty="0"/>
              <a:t> — how often a member sits on the shortest path between two other members who aren't directly connected. High betweenness = a "broker" or bridge, often someone who connects otherwise separate blocs (e.g., a moderate who bridges party factions, or a committee chair who links subgroups).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Eigenvector centrality</a:t>
            </a:r>
            <a:r>
              <a:rPr lang="en-US" sz="1050" dirty="0"/>
              <a:t> — connectedness weighted by how well-connected your connections are. High eigenvector score = you're linked to other highly influential members, not just lots of members. This tends to surface party leadership and senior members who cluster together.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21EA02A-51A1-29BF-197E-6A4C91038A91}"/>
              </a:ext>
            </a:extLst>
          </p:cNvPr>
          <p:cNvSpPr/>
          <p:nvPr/>
        </p:nvSpPr>
        <p:spPr>
          <a:xfrm>
            <a:off x="800100" y="44850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Measures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Bill Predictions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whether a bill will pass its chamber of origin, pass the other chamber, or be enacted into law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multi-stage progression built from latest_action_text — referred, passed_house, passed_senate, enacted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features: bill_type, sponsor party, policy_area, origin_chamber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features: committee_count, action_count, cosponsor_count, amendment_count, related_bills_count, subjects_count, text_versions_count, title_count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+ OneHotEncoder + VectorAssembler feed a single Spark ML pipeline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233172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80960" y="2971800"/>
            <a:ext cx="3657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pass/fail probability for every active bill turns a static tracker into a forward-looking signal — useful for clients watching legislation that affects their industry.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4983480"/>
            <a:ext cx="3566160" cy="0"/>
          </a:xfrm>
          <a:prstGeom prst="line">
            <a:avLst/>
          </a:prstGeom>
          <a:noFill/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5074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68096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Values — Why the Model Says What It Says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Random Forest from a black box into a defensible, feature-by-feature explanation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levels of explanation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importance: ranks which features move predictions across all bills — a first read on what actually drives passage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(per-bill) explanation: a waterfall view of exactly why one specific bill scored high or low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matters as much as magnitude — a feature can push a prediction up or down, not just indicate importance</a:t>
            </a:r>
            <a:endParaRPr lang="en-US" sz="1250" dirty="0"/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once per model run and stored alongside predictions in the Gold layer for dashboard use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233172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680960" y="2971800"/>
            <a:ext cx="3657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don't just want a probability — they want the reasoning behind it. SHAP is what makes a prediction defensible in a client conversation, not just a black-box number.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4983480"/>
            <a:ext cx="3566160" cy="0"/>
          </a:xfrm>
          <a:prstGeom prst="line">
            <a:avLst/>
          </a:prstGeom>
          <a:noFill/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5074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Count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68096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ED59B-BB41-E5D9-9B91-76C2B7BE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14119A0-BD50-3B36-389C-BFDAD9D0556B}"/>
              </a:ext>
            </a:extLst>
          </p:cNvPr>
          <p:cNvSpPr/>
          <p:nvPr/>
        </p:nvSpPr>
        <p:spPr>
          <a:xfrm>
            <a:off x="384738" y="23567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 Actions and # Titles Further Explanation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F768C2-486C-CEE6-B893-42B58D7598A6}"/>
              </a:ext>
            </a:extLst>
          </p:cNvPr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279039-F7FC-4F65-D730-DAD12C1AEC2D}"/>
              </a:ext>
            </a:extLst>
          </p:cNvPr>
          <p:cNvSpPr/>
          <p:nvPr/>
        </p:nvSpPr>
        <p:spPr>
          <a:xfrm>
            <a:off x="603848" y="674653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me at times – Good example of overfitting and can be misleading.  Short story, large amount of bills with few actions that don’t pass push it down.  The # of Titles does get above 0 while # of actions does not.  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76B23B-E3B8-3E4F-77C6-93072E4C39DB}"/>
              </a:ext>
            </a:extLst>
          </p:cNvPr>
          <p:cNvSpPr/>
          <p:nvPr/>
        </p:nvSpPr>
        <p:spPr>
          <a:xfrm>
            <a:off x="76809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99E2AF-A649-4171-276E-1113630FB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21" y="1200309"/>
            <a:ext cx="3066731" cy="23451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50A64E-DF58-A296-03B2-B557B5501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858" y="1200309"/>
            <a:ext cx="2545655" cy="245729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988E08-311B-D008-49C9-50E6FFAAF6C8}"/>
              </a:ext>
            </a:extLst>
          </p:cNvPr>
          <p:cNvSpPr txBox="1"/>
          <p:nvPr/>
        </p:nvSpPr>
        <p:spPr>
          <a:xfrm>
            <a:off x="8635042" y="3854456"/>
            <a:ext cx="306673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WITH </a:t>
            </a:r>
            <a:r>
              <a:rPr lang="en-US" sz="1000" dirty="0" err="1"/>
              <a:t>per_bill</a:t>
            </a:r>
            <a:r>
              <a:rPr lang="en-US" sz="1000" dirty="0"/>
              <a:t> AS (</a:t>
            </a:r>
          </a:p>
          <a:p>
            <a:r>
              <a:rPr lang="en-US" sz="1000" dirty="0"/>
              <a:t>  SELECT </a:t>
            </a:r>
            <a:r>
              <a:rPr lang="en-US" sz="1000" dirty="0" err="1"/>
              <a:t>bill_id</a:t>
            </a:r>
            <a:r>
              <a:rPr lang="en-US" sz="1000" dirty="0"/>
              <a:t>, COUNT(*) AS </a:t>
            </a:r>
            <a:r>
              <a:rPr lang="en-US" sz="1000" dirty="0" err="1"/>
              <a:t>action_count</a:t>
            </a:r>
            <a:endParaRPr lang="en-US" sz="1000" dirty="0"/>
          </a:p>
          <a:p>
            <a:r>
              <a:rPr lang="en-US" sz="1000" dirty="0"/>
              <a:t>  FROM </a:t>
            </a:r>
            <a:r>
              <a:rPr lang="en-US" sz="1000" dirty="0" err="1"/>
              <a:t>congress_silver.actions</a:t>
            </a:r>
            <a:endParaRPr lang="en-US" sz="1000" dirty="0"/>
          </a:p>
          <a:p>
            <a:r>
              <a:rPr lang="en-US" sz="1000" dirty="0"/>
              <a:t>  GROUP BY </a:t>
            </a:r>
            <a:r>
              <a:rPr lang="en-US" sz="1000" dirty="0" err="1"/>
              <a:t>bill_id</a:t>
            </a:r>
            <a:endParaRPr lang="en-US" sz="1000" dirty="0"/>
          </a:p>
          <a:p>
            <a:r>
              <a:rPr lang="en-US" sz="1000" dirty="0"/>
              <a:t>)</a:t>
            </a:r>
          </a:p>
          <a:p>
            <a:r>
              <a:rPr lang="en-US" sz="1000" dirty="0"/>
              <a:t>SELECT LEAST(</a:t>
            </a:r>
            <a:r>
              <a:rPr lang="en-US" sz="1000" dirty="0" err="1"/>
              <a:t>p.action_count</a:t>
            </a:r>
            <a:r>
              <a:rPr lang="en-US" sz="1000" dirty="0"/>
              <a:t>, 51) AS </a:t>
            </a:r>
            <a:r>
              <a:rPr lang="en-US" sz="1000" dirty="0" err="1"/>
              <a:t>action_count</a:t>
            </a:r>
            <a:r>
              <a:rPr lang="en-US" sz="1000" dirty="0"/>
              <a:t>,</a:t>
            </a:r>
          </a:p>
          <a:p>
            <a:r>
              <a:rPr lang="en-US" sz="1000" dirty="0"/>
              <a:t>       COUNT(*) AS bills,</a:t>
            </a:r>
          </a:p>
          <a:p>
            <a:r>
              <a:rPr lang="en-US" sz="1000" dirty="0"/>
              <a:t>       ROUND(AVG(</a:t>
            </a:r>
            <a:r>
              <a:rPr lang="en-US" sz="1000" dirty="0" err="1"/>
              <a:t>s.shap_value</a:t>
            </a:r>
            <a:r>
              <a:rPr lang="en-US" sz="1000" dirty="0"/>
              <a:t>), 4) AS </a:t>
            </a:r>
            <a:r>
              <a:rPr lang="en-US" sz="1000" dirty="0" err="1"/>
              <a:t>avg_shap</a:t>
            </a:r>
            <a:r>
              <a:rPr lang="en-US" sz="1000" dirty="0"/>
              <a:t> </a:t>
            </a:r>
          </a:p>
          <a:p>
            <a:r>
              <a:rPr lang="en-US" sz="1000" dirty="0"/>
              <a:t>FROM </a:t>
            </a:r>
            <a:r>
              <a:rPr lang="en-US" sz="1000" dirty="0" err="1"/>
              <a:t>per_bill</a:t>
            </a:r>
            <a:r>
              <a:rPr lang="en-US" sz="1000" dirty="0"/>
              <a:t> p</a:t>
            </a:r>
          </a:p>
          <a:p>
            <a:r>
              <a:rPr lang="en-US" sz="1000" dirty="0"/>
              <a:t>JOIN </a:t>
            </a:r>
            <a:r>
              <a:rPr lang="en-US" sz="1000" dirty="0" err="1"/>
              <a:t>congress_gold.bill_shap_values</a:t>
            </a:r>
            <a:r>
              <a:rPr lang="en-US" sz="1000" dirty="0"/>
              <a:t> s</a:t>
            </a:r>
          </a:p>
          <a:p>
            <a:r>
              <a:rPr lang="en-US" sz="1000" dirty="0"/>
              <a:t>  ON </a:t>
            </a:r>
            <a:r>
              <a:rPr lang="en-US" sz="1000" dirty="0" err="1"/>
              <a:t>s.bill_id</a:t>
            </a:r>
            <a:r>
              <a:rPr lang="en-US" sz="1000" dirty="0"/>
              <a:t> = </a:t>
            </a:r>
            <a:r>
              <a:rPr lang="en-US" sz="1000" dirty="0" err="1"/>
              <a:t>p.bill_id</a:t>
            </a:r>
            <a:r>
              <a:rPr lang="en-US" sz="1000" dirty="0"/>
              <a:t> AND </a:t>
            </a:r>
            <a:r>
              <a:rPr lang="en-US" sz="1000" dirty="0" err="1"/>
              <a:t>s.feature</a:t>
            </a:r>
            <a:r>
              <a:rPr lang="en-US" sz="1000" dirty="0"/>
              <a:t> = '</a:t>
            </a:r>
            <a:r>
              <a:rPr lang="en-US" sz="1000" dirty="0" err="1"/>
              <a:t>action_count</a:t>
            </a:r>
            <a:r>
              <a:rPr lang="en-US" sz="1000" dirty="0"/>
              <a:t>’ – change to </a:t>
            </a:r>
            <a:r>
              <a:rPr lang="en-US" sz="1000" dirty="0" err="1"/>
              <a:t>title_count</a:t>
            </a:r>
            <a:r>
              <a:rPr lang="en-US" sz="1000" dirty="0"/>
              <a:t> to get title charts</a:t>
            </a:r>
          </a:p>
          <a:p>
            <a:r>
              <a:rPr lang="en-US" sz="1000" dirty="0"/>
              <a:t>GROUP BY LEAST(</a:t>
            </a:r>
            <a:r>
              <a:rPr lang="en-US" sz="1000" dirty="0" err="1"/>
              <a:t>p.action_count</a:t>
            </a:r>
            <a:r>
              <a:rPr lang="en-US" sz="1000" dirty="0"/>
              <a:t>, 51)</a:t>
            </a:r>
          </a:p>
          <a:p>
            <a:r>
              <a:rPr lang="en-US" sz="1000" dirty="0"/>
              <a:t>ORDER BY </a:t>
            </a:r>
            <a:r>
              <a:rPr lang="en-US" sz="1000" dirty="0" err="1"/>
              <a:t>action_count</a:t>
            </a:r>
            <a:r>
              <a:rPr lang="en-US" sz="1000" dirty="0"/>
              <a:t>;</a:t>
            </a:r>
          </a:p>
          <a:p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64E819-8CD6-069E-F0F0-F9B737F1D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552" y="1200309"/>
            <a:ext cx="2339874" cy="23451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0333817-4294-7796-1BEA-C6C14F0006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3945" y="1214747"/>
            <a:ext cx="2232372" cy="245729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101C8D5-0072-D028-AB41-AF0695AE6C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7024" y="3909965"/>
            <a:ext cx="3355489" cy="2345148"/>
          </a:xfrm>
          <a:prstGeom prst="rect">
            <a:avLst/>
          </a:prstGeom>
        </p:spPr>
      </p:pic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F13955EC-5C7D-A753-090D-A5C5B2E829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3942799"/>
              </p:ext>
            </p:extLst>
          </p:nvPr>
        </p:nvGraphicFramePr>
        <p:xfrm>
          <a:off x="490226" y="3709211"/>
          <a:ext cx="4306061" cy="2545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665296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9C291-41A3-E139-A22D-70EC300C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AA5250-F4EC-9AEF-431F-BC2D9EAA86A6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5FA147-50EC-0DF1-9E95-61A12B8A7DA5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Fabric Copilot Integration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5A8BC1-E0EE-1DAE-234A-058FBA71287F}"/>
              </a:ext>
            </a:extLst>
          </p:cNvPr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5BD9A4-6A8D-29BA-8F13-02660F71674E}"/>
              </a:ext>
            </a:extLst>
          </p:cNvPr>
          <p:cNvSpPr/>
          <p:nvPr/>
        </p:nvSpPr>
        <p:spPr>
          <a:xfrm>
            <a:off x="548640" y="15544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47709B-EA15-76F6-8AFB-A4F6A2D66322}"/>
              </a:ext>
            </a:extLst>
          </p:cNvPr>
          <p:cNvSpPr/>
          <p:nvPr/>
        </p:nvSpPr>
        <p:spPr>
          <a:xfrm>
            <a:off x="57912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4950977-EB83-4A55-E3D4-B1FF3CD5F85E}"/>
              </a:ext>
            </a:extLst>
          </p:cNvPr>
          <p:cNvSpPr/>
          <p:nvPr/>
        </p:nvSpPr>
        <p:spPr>
          <a:xfrm>
            <a:off x="477903" y="1965960"/>
            <a:ext cx="6675120" cy="1274122"/>
          </a:xfrm>
          <a:prstGeom prst="roundRect">
            <a:avLst>
              <a:gd name="adj" fmla="val 19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2F4BCE-85A7-9FEA-B4EF-50A23C466872}"/>
              </a:ext>
            </a:extLst>
          </p:cNvPr>
          <p:cNvSpPr/>
          <p:nvPr/>
        </p:nvSpPr>
        <p:spPr>
          <a:xfrm>
            <a:off x="832737" y="20574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to turn on 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E0C028-E2CB-8CFB-9793-F3F7851D4309}"/>
              </a:ext>
            </a:extLst>
          </p:cNvPr>
          <p:cNvSpPr/>
          <p:nvPr/>
        </p:nvSpPr>
        <p:spPr>
          <a:xfrm>
            <a:off x="797943" y="2603021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Fabric Capacity enabled to use and Workspace Type set to Fabric and Capacity selected</a:t>
            </a:r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workspace type to Fabric and select capacity</a:t>
            </a:r>
            <a:endParaRPr lang="en-US" sz="12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76832E5-6FAB-73E6-3898-09679A6E0ED8}"/>
              </a:ext>
            </a:extLst>
          </p:cNvPr>
          <p:cNvSpPr/>
          <p:nvPr/>
        </p:nvSpPr>
        <p:spPr>
          <a:xfrm>
            <a:off x="7365234" y="274320"/>
            <a:ext cx="4206240" cy="228600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92F3AD-1180-180B-3D02-DC201C4DBA6E}"/>
              </a:ext>
            </a:extLst>
          </p:cNvPr>
          <p:cNvSpPr/>
          <p:nvPr/>
        </p:nvSpPr>
        <p:spPr>
          <a:xfrm>
            <a:off x="7635240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9FA552-EA54-79EA-4414-9AEE8AEF6C4B}"/>
              </a:ext>
            </a:extLst>
          </p:cNvPr>
          <p:cNvSpPr/>
          <p:nvPr/>
        </p:nvSpPr>
        <p:spPr>
          <a:xfrm>
            <a:off x="7701663" y="625602"/>
            <a:ext cx="3657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ask questions of data without having to understand Power BI/data structure/web page layouts.  </a:t>
            </a:r>
          </a:p>
          <a:p>
            <a:pPr marL="171450" indent="-1714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the way a human would ask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53C3F2B-F6ED-D310-383D-846EBCD84F71}"/>
              </a:ext>
            </a:extLst>
          </p:cNvPr>
          <p:cNvSpPr/>
          <p:nvPr/>
        </p:nvSpPr>
        <p:spPr>
          <a:xfrm>
            <a:off x="7680960" y="4983480"/>
            <a:ext cx="3566160" cy="0"/>
          </a:xfrm>
          <a:prstGeom prst="line">
            <a:avLst/>
          </a:prstGeom>
          <a:noFill/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292DF9D-1945-2024-A30D-8DA9F16BA51C}"/>
              </a:ext>
            </a:extLst>
          </p:cNvPr>
          <p:cNvSpPr/>
          <p:nvPr/>
        </p:nvSpPr>
        <p:spPr>
          <a:xfrm>
            <a:off x="7680960" y="5669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B68CB9E-A376-500D-E3D3-955EE98B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2" y="3645355"/>
            <a:ext cx="6660889" cy="28285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C147F05-DD65-5DAC-ECF2-EED0BA3C2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96" y="2926080"/>
            <a:ext cx="3383087" cy="364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61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0FEBB-370D-6942-18A0-31F36517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2CCD8D-7A4F-6DF0-902F-9F160561FA50}"/>
              </a:ext>
            </a:extLst>
          </p:cNvPr>
          <p:cNvSpPr/>
          <p:nvPr/>
        </p:nvSpPr>
        <p:spPr>
          <a:xfrm>
            <a:off x="548640" y="17373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B8DE15-BEEE-2492-3752-A6B4BE258211}"/>
              </a:ext>
            </a:extLst>
          </p:cNvPr>
          <p:cNvSpPr/>
          <p:nvPr/>
        </p:nvSpPr>
        <p:spPr>
          <a:xfrm>
            <a:off x="548640" y="26397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Fabric Copilot Integration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A71E83-4251-92E1-CAEC-64AC600C9BEC}"/>
              </a:ext>
            </a:extLst>
          </p:cNvPr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BDC786-5FC4-798C-1863-0CBE1F8A22C2}"/>
              </a:ext>
            </a:extLst>
          </p:cNvPr>
          <p:cNvSpPr/>
          <p:nvPr/>
        </p:nvSpPr>
        <p:spPr>
          <a:xfrm>
            <a:off x="548640" y="15544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0F1BC1-BEE8-88A5-AD85-177C06327F75}"/>
              </a:ext>
            </a:extLst>
          </p:cNvPr>
          <p:cNvSpPr/>
          <p:nvPr/>
        </p:nvSpPr>
        <p:spPr>
          <a:xfrm>
            <a:off x="579120" y="79673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Question 1 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DFBF6A2-EF3D-9AFB-42A7-1C9E79F4D727}"/>
              </a:ext>
            </a:extLst>
          </p:cNvPr>
          <p:cNvSpPr/>
          <p:nvPr/>
        </p:nvSpPr>
        <p:spPr>
          <a:xfrm>
            <a:off x="7635240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398021-D5E3-8029-E73A-9861496FC897}"/>
              </a:ext>
            </a:extLst>
          </p:cNvPr>
          <p:cNvSpPr/>
          <p:nvPr/>
        </p:nvSpPr>
        <p:spPr>
          <a:xfrm>
            <a:off x="7680960" y="4983480"/>
            <a:ext cx="3566160" cy="0"/>
          </a:xfrm>
          <a:prstGeom prst="line">
            <a:avLst/>
          </a:prstGeom>
          <a:noFill/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667C07-440C-F3E2-68E2-F47BA181D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28" y="1177164"/>
            <a:ext cx="4069080" cy="28974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9EF1FA-2C03-7C1F-27D8-FB2021811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71" y="3865540"/>
            <a:ext cx="3657601" cy="28759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C8FE6C8-239E-03CE-E1D5-CBECE7758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668" y="1235646"/>
            <a:ext cx="3280419" cy="27670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5762C2D-46AC-0198-69AD-8EB31927F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041" y="4217921"/>
            <a:ext cx="3237929" cy="20017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76F89D-BDAC-3E96-2607-58E3247F2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4819" y="1316736"/>
            <a:ext cx="4053053" cy="361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30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B28EB-76DF-C26D-5109-7E160CC0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A0EE5E-C18B-036B-83B7-BE586683D633}"/>
              </a:ext>
            </a:extLst>
          </p:cNvPr>
          <p:cNvSpPr/>
          <p:nvPr/>
        </p:nvSpPr>
        <p:spPr>
          <a:xfrm>
            <a:off x="548640" y="17373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A121E5-9FFE-1F5D-0FE3-7E9A933D28D9}"/>
              </a:ext>
            </a:extLst>
          </p:cNvPr>
          <p:cNvSpPr/>
          <p:nvPr/>
        </p:nvSpPr>
        <p:spPr>
          <a:xfrm>
            <a:off x="548640" y="26397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Fabric Copilot Integration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43AA95-0D06-4434-C367-8C4982587926}"/>
              </a:ext>
            </a:extLst>
          </p:cNvPr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81FAC6-5B9E-6C52-24CE-F0FB39E3A10D}"/>
              </a:ext>
            </a:extLst>
          </p:cNvPr>
          <p:cNvSpPr/>
          <p:nvPr/>
        </p:nvSpPr>
        <p:spPr>
          <a:xfrm>
            <a:off x="548640" y="15544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E6F16A7-2D62-B15F-1262-9B06FA9A8DA3}"/>
              </a:ext>
            </a:extLst>
          </p:cNvPr>
          <p:cNvSpPr/>
          <p:nvPr/>
        </p:nvSpPr>
        <p:spPr>
          <a:xfrm>
            <a:off x="579120" y="79673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Question 2 </a:t>
            </a: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21AA4A-52D8-524B-E332-ADA0B370C2ED}"/>
              </a:ext>
            </a:extLst>
          </p:cNvPr>
          <p:cNvSpPr/>
          <p:nvPr/>
        </p:nvSpPr>
        <p:spPr>
          <a:xfrm>
            <a:off x="7635240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23AAE8-5CB4-A470-F9A9-025C5055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0" y="1674314"/>
            <a:ext cx="4211855" cy="40073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24E54D-B048-ED77-FEFE-F41A2C87C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195" y="932688"/>
            <a:ext cx="3627720" cy="2165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71AE86-E997-B060-1EE3-22A46956B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6195" y="3144419"/>
            <a:ext cx="3704486" cy="21659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3E2C91-7D5C-946C-E8F5-A01A63F23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693" y="1005840"/>
            <a:ext cx="3496811" cy="400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0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03B5B-0C70-16BF-AA2D-249B4A74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4B1FDF5D-376B-9E2A-8DE9-DEB23DEBFF92}"/>
              </a:ext>
            </a:extLst>
          </p:cNvPr>
          <p:cNvSpPr/>
          <p:nvPr/>
        </p:nvSpPr>
        <p:spPr>
          <a:xfrm>
            <a:off x="7406640" y="2350008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75B60A1-A817-805D-D4C8-2E6FDFB365F6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AZURE FUNCTIONS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9BCB7C-BC2D-1699-E80C-61FD64715CFC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Created because want to make this more open source and a long term project that is live on web and not tied into Microsoft Licensing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A3C689-C7D8-DA2D-0A83-A35C3E6638AA}"/>
              </a:ext>
            </a:extLst>
          </p:cNvPr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D1661D-C4D9-BCE4-6187-B040A96377BA}"/>
              </a:ext>
            </a:extLst>
          </p:cNvPr>
          <p:cNvSpPr/>
          <p:nvPr/>
        </p:nvSpPr>
        <p:spPr>
          <a:xfrm>
            <a:off x="548640" y="1554480"/>
            <a:ext cx="68580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90EBAD-7500-628E-1FF6-B0C608A2D588}"/>
              </a:ext>
            </a:extLst>
          </p:cNvPr>
          <p:cNvSpPr/>
          <p:nvPr/>
        </p:nvSpPr>
        <p:spPr>
          <a:xfrm>
            <a:off x="548640" y="15544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404997-7455-5F05-D514-E2DDFAFF1FAA}"/>
              </a:ext>
            </a:extLst>
          </p:cNvPr>
          <p:cNvSpPr/>
          <p:nvPr/>
        </p:nvSpPr>
        <p:spPr>
          <a:xfrm>
            <a:off x="1234440" y="15727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Azure Functions and dotnet web app.  Hosted on Microsoft Azure</a:t>
            </a:r>
            <a:endParaRPr lang="en-US" sz="13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1DF063D-71CC-6250-8834-C36625E382C6}"/>
              </a:ext>
            </a:extLst>
          </p:cNvPr>
          <p:cNvSpPr/>
          <p:nvPr/>
        </p:nvSpPr>
        <p:spPr>
          <a:xfrm>
            <a:off x="548640" y="2331720"/>
            <a:ext cx="6675120" cy="1808959"/>
          </a:xfrm>
          <a:prstGeom prst="roundRect">
            <a:avLst>
              <a:gd name="adj" fmla="val 1951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E0F9C28-4123-842E-5D35-11EECE3E2139}"/>
              </a:ext>
            </a:extLst>
          </p:cNvPr>
          <p:cNvSpPr/>
          <p:nvPr/>
        </p:nvSpPr>
        <p:spPr>
          <a:xfrm>
            <a:off x="76809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1774986-605F-D86F-F869-902AA800676C}"/>
              </a:ext>
            </a:extLst>
          </p:cNvPr>
          <p:cNvSpPr/>
          <p:nvPr/>
        </p:nvSpPr>
        <p:spPr>
          <a:xfrm>
            <a:off x="7680960" y="2971800"/>
            <a:ext cx="3657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668BA52-A59E-2073-E385-8D49804F15DB}"/>
              </a:ext>
            </a:extLst>
          </p:cNvPr>
          <p:cNvSpPr/>
          <p:nvPr/>
        </p:nvSpPr>
        <p:spPr>
          <a:xfrm>
            <a:off x="7680960" y="4983480"/>
            <a:ext cx="3566160" cy="0"/>
          </a:xfrm>
          <a:prstGeom prst="line">
            <a:avLst/>
          </a:prstGeom>
          <a:noFill/>
          <a:ln w="12700">
            <a:solidFill>
              <a:srgbClr val="3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4C9DF5-EB09-9673-63BA-73769D948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2331720"/>
            <a:ext cx="6513341" cy="4254161"/>
          </a:xfrm>
          <a:prstGeom prst="rect">
            <a:avLst/>
          </a:prstGeom>
        </p:spPr>
      </p:pic>
      <p:sp>
        <p:nvSpPr>
          <p:cNvPr id="10" name="Text 8">
            <a:extLst>
              <a:ext uri="{FF2B5EF4-FFF2-40B4-BE49-F238E27FC236}">
                <a16:creationId xmlns:a16="http://schemas.microsoft.com/office/drawing/2014/main" id="{B154CCAB-86D9-E124-D20A-B485C1B5A596}"/>
              </a:ext>
            </a:extLst>
          </p:cNvPr>
          <p:cNvSpPr/>
          <p:nvPr/>
        </p:nvSpPr>
        <p:spPr>
          <a:xfrm>
            <a:off x="7680960" y="3044952"/>
            <a:ext cx="3056339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having issues with nightly processing on production environment although runs fine locally.</a:t>
            </a:r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 plan to continue to develop in.  Send Pull request for this application if you would like to work on this with me.  </a:t>
            </a:r>
          </a:p>
          <a:p>
            <a:pPr marL="342900" indent="-3429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ED6ACAD-B018-A99B-B410-51E9CB69BDE9}"/>
              </a:ext>
            </a:extLst>
          </p:cNvPr>
          <p:cNvSpPr/>
          <p:nvPr/>
        </p:nvSpPr>
        <p:spPr>
          <a:xfrm>
            <a:off x="7680960" y="24460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Development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2BEE52-3699-543F-32F3-B4CBF90598AC}"/>
              </a:ext>
            </a:extLst>
          </p:cNvPr>
          <p:cNvSpPr txBox="1"/>
          <p:nvPr/>
        </p:nvSpPr>
        <p:spPr>
          <a:xfrm>
            <a:off x="7776671" y="4592864"/>
            <a:ext cx="3384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dotnet Web App (may require a few clicks as it goes cold)</a:t>
            </a:r>
            <a:r>
              <a:rPr lang="en-US" dirty="0">
                <a:solidFill>
                  <a:srgbClr val="0070C0"/>
                </a:solidFill>
              </a:rPr>
              <a:t> Link</a:t>
            </a:r>
          </a:p>
        </p:txBody>
      </p:sp>
      <p:sp>
        <p:nvSpPr>
          <p:cNvPr id="22" name="TextBox 21">
            <a:hlinkClick r:id="rId5"/>
            <a:extLst>
              <a:ext uri="{FF2B5EF4-FFF2-40B4-BE49-F238E27FC236}">
                <a16:creationId xmlns:a16="http://schemas.microsoft.com/office/drawing/2014/main" id="{C1DBFCD1-51EF-56F0-17A4-5ABDFC1EF381}"/>
              </a:ext>
            </a:extLst>
          </p:cNvPr>
          <p:cNvSpPr txBox="1"/>
          <p:nvPr/>
        </p:nvSpPr>
        <p:spPr>
          <a:xfrm>
            <a:off x="7776670" y="5303288"/>
            <a:ext cx="3056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Github</a:t>
            </a:r>
            <a:r>
              <a:rPr lang="en-US" dirty="0">
                <a:solidFill>
                  <a:srgbClr val="0070C0"/>
                </a:solidFill>
              </a:rPr>
              <a:t> Repo of Azure Functions/dotnet App Link</a:t>
            </a:r>
          </a:p>
        </p:txBody>
      </p:sp>
    </p:spTree>
    <p:extLst>
      <p:ext uri="{BB962C8B-B14F-4D97-AF65-F5344CB8AC3E}">
        <p14:creationId xmlns:p14="http://schemas.microsoft.com/office/powerpoint/2010/main" val="350096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Predictive, Explainable, Relational View of Congress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scores every active bill on its likelihood to pass or be enacted.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turn each prediction into a feature-by-feature, client-ready explanation.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centrality surfaces the legislators and bills that bridge coalitions.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2A35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0976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976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reveals the real topical shape of legislation, beyond fixed tags.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6C0CA42B-BE64-D21F-871B-E34A6DD88637}"/>
              </a:ext>
            </a:extLst>
          </p:cNvPr>
          <p:cNvSpPr/>
          <p:nvPr/>
        </p:nvSpPr>
        <p:spPr>
          <a:xfrm>
            <a:off x="822960" y="482656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Chad Nelson  |  Senior Data and Analytics Consultant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(Link to LinkedIn Page)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cnelson@teamscs.</a:t>
            </a: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nels2248@gmail.com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19F86B-4296-ECFB-34F3-5892DBE5C427}"/>
              </a:ext>
            </a:extLst>
          </p:cNvPr>
          <p:cNvSpPr txBox="1"/>
          <p:nvPr/>
        </p:nvSpPr>
        <p:spPr>
          <a:xfrm>
            <a:off x="822960" y="5770209"/>
            <a:ext cx="314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Power BI Dashboard Link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D69764-98B8-9882-8FA6-C666EE1415CB}"/>
              </a:ext>
            </a:extLst>
          </p:cNvPr>
          <p:cNvSpPr txBox="1"/>
          <p:nvPr/>
        </p:nvSpPr>
        <p:spPr>
          <a:xfrm>
            <a:off x="3968151" y="5773493"/>
            <a:ext cx="6638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dotnet Web App (may require a few clicks as it goes cold)</a:t>
            </a:r>
            <a:r>
              <a:rPr lang="en-US" dirty="0">
                <a:solidFill>
                  <a:srgbClr val="0070C0"/>
                </a:solidFill>
              </a:rPr>
              <a:t> Link</a:t>
            </a:r>
          </a:p>
        </p:txBody>
      </p:sp>
      <p:sp>
        <p:nvSpPr>
          <p:cNvPr id="26" name="TextBox 25">
            <a:hlinkClick r:id="rId7"/>
            <a:extLst>
              <a:ext uri="{FF2B5EF4-FFF2-40B4-BE49-F238E27FC236}">
                <a16:creationId xmlns:a16="http://schemas.microsoft.com/office/drawing/2014/main" id="{750C9FD5-7C7E-675C-53ED-E0CD6395BF83}"/>
              </a:ext>
            </a:extLst>
          </p:cNvPr>
          <p:cNvSpPr txBox="1"/>
          <p:nvPr/>
        </p:nvSpPr>
        <p:spPr>
          <a:xfrm>
            <a:off x="822959" y="6243754"/>
            <a:ext cx="314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Github</a:t>
            </a:r>
            <a:r>
              <a:rPr lang="en-US" dirty="0">
                <a:solidFill>
                  <a:srgbClr val="0070C0"/>
                </a:solidFill>
              </a:rPr>
              <a:t> Repo of Fabric Setup</a:t>
            </a:r>
          </a:p>
        </p:txBody>
      </p:sp>
      <p:sp>
        <p:nvSpPr>
          <p:cNvPr id="28" name="TextBox 27">
            <a:hlinkClick r:id="rId8"/>
            <a:extLst>
              <a:ext uri="{FF2B5EF4-FFF2-40B4-BE49-F238E27FC236}">
                <a16:creationId xmlns:a16="http://schemas.microsoft.com/office/drawing/2014/main" id="{09B48B06-413B-9F76-901E-3E843D14209F}"/>
              </a:ext>
            </a:extLst>
          </p:cNvPr>
          <p:cNvSpPr txBox="1"/>
          <p:nvPr/>
        </p:nvSpPr>
        <p:spPr>
          <a:xfrm>
            <a:off x="3968150" y="6240470"/>
            <a:ext cx="599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Github</a:t>
            </a:r>
            <a:r>
              <a:rPr lang="en-US" dirty="0">
                <a:solidFill>
                  <a:srgbClr val="0070C0"/>
                </a:solidFill>
              </a:rPr>
              <a:t> Repo of Azure Functions/dotnet App Link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C647B01-2FA0-AC7A-BB0D-45E649FA5E80}"/>
              </a:ext>
            </a:extLst>
          </p:cNvPr>
          <p:cNvSpPr/>
          <p:nvPr/>
        </p:nvSpPr>
        <p:spPr>
          <a:xfrm>
            <a:off x="10607040" y="487885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</a:rPr>
              <a:t>Feedback</a:t>
            </a:r>
            <a:endParaRPr lang="en-US" sz="15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FA646AF-D273-4BFC-38CC-EB3ECD3B2C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3655" y="5269920"/>
            <a:ext cx="885933" cy="8729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1674</Words>
  <Application>Microsoft Office PowerPoint</Application>
  <PresentationFormat>Widescreen</PresentationFormat>
  <Paragraphs>233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Chad Nelson</cp:lastModifiedBy>
  <cp:revision>18</cp:revision>
  <dcterms:created xsi:type="dcterms:W3CDTF">2026-08-01T16:11:21Z</dcterms:created>
  <dcterms:modified xsi:type="dcterms:W3CDTF">2026-10-23T22:44:16Z</dcterms:modified>
</cp:coreProperties>
</file>